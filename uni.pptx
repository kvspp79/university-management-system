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8" r:id="rId12"/>
    <p:sldId id="270" r:id="rId13"/>
    <p:sldId id="271" r:id="rId14"/>
    <p:sldId id="269" r:id="rId15"/>
    <p:sldId id="265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706" autoAdjust="0"/>
  </p:normalViewPr>
  <p:slideViewPr>
    <p:cSldViewPr>
      <p:cViewPr varScale="1">
        <p:scale>
          <a:sx n="61" d="100"/>
          <a:sy n="61" d="100"/>
        </p:scale>
        <p:origin x="32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455FA-388A-48D4-925C-A3D944B4A478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7F555-0E8F-4446-9ADC-48FAF4FC0C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58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7F555-0E8F-4446-9ADC-48FAF4FC0C8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68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2811" y="787520"/>
            <a:ext cx="9494635" cy="8711960"/>
            <a:chOff x="0" y="0"/>
            <a:chExt cx="88582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85821" cy="812800"/>
            </a:xfrm>
            <a:custGeom>
              <a:avLst/>
              <a:gdLst/>
              <a:ahLst/>
              <a:cxnLst/>
              <a:rect l="l" t="t" r="r" b="b"/>
              <a:pathLst>
                <a:path w="885821" h="812800">
                  <a:moveTo>
                    <a:pt x="0" y="0"/>
                  </a:moveTo>
                  <a:lnTo>
                    <a:pt x="885821" y="0"/>
                  </a:lnTo>
                  <a:lnTo>
                    <a:pt x="88582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3663" r="-4316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22864" y="0"/>
            <a:ext cx="6025205" cy="10287000"/>
            <a:chOff x="0" y="0"/>
            <a:chExt cx="1586885" cy="28173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86885" cy="2817370"/>
            </a:xfrm>
            <a:custGeom>
              <a:avLst/>
              <a:gdLst/>
              <a:ahLst/>
              <a:cxnLst/>
              <a:rect l="l" t="t" r="r" b="b"/>
              <a:pathLst>
                <a:path w="1586885" h="2817370">
                  <a:moveTo>
                    <a:pt x="0" y="0"/>
                  </a:moveTo>
                  <a:lnTo>
                    <a:pt x="1586885" y="0"/>
                  </a:lnTo>
                  <a:lnTo>
                    <a:pt x="1586885" y="2817370"/>
                  </a:lnTo>
                  <a:lnTo>
                    <a:pt x="0" y="2817370"/>
                  </a:lnTo>
                  <a:close/>
                </a:path>
              </a:pathLst>
            </a:custGeom>
            <a:gradFill rotWithShape="1">
              <a:gsLst>
                <a:gs pos="0">
                  <a:srgbClr val="3E3E3E">
                    <a:alpha val="25000"/>
                  </a:srgbClr>
                </a:gs>
                <a:gs pos="100000">
                  <a:srgbClr val="C9C9C9">
                    <a:alpha val="25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586885" cy="2864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3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9E19619-F7B0-1064-D016-75CE894BE73C}"/>
              </a:ext>
            </a:extLst>
          </p:cNvPr>
          <p:cNvSpPr txBox="1"/>
          <p:nvPr/>
        </p:nvSpPr>
        <p:spPr>
          <a:xfrm>
            <a:off x="10297446" y="1485900"/>
            <a:ext cx="9494635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MANAGEMENT SYSTEM</a:t>
            </a:r>
            <a:endParaRPr lang="en-IN" sz="6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C622463C-0393-EF53-461D-E71279FEEDC3}"/>
              </a:ext>
            </a:extLst>
          </p:cNvPr>
          <p:cNvSpPr/>
          <p:nvPr/>
        </p:nvSpPr>
        <p:spPr>
          <a:xfrm>
            <a:off x="15621000" y="449580"/>
            <a:ext cx="2225040" cy="45720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025DA92-342F-F77E-F4FD-CD41BF42BF7D}"/>
              </a:ext>
            </a:extLst>
          </p:cNvPr>
          <p:cNvSpPr/>
          <p:nvPr/>
        </p:nvSpPr>
        <p:spPr>
          <a:xfrm>
            <a:off x="15621000" y="419100"/>
            <a:ext cx="2179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34155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9A36CF3A-873E-9A34-3EBC-D5AB916C4BDF}"/>
              </a:ext>
            </a:extLst>
          </p:cNvPr>
          <p:cNvSpPr/>
          <p:nvPr/>
        </p:nvSpPr>
        <p:spPr>
          <a:xfrm>
            <a:off x="11436799" y="2738352"/>
            <a:ext cx="5439227" cy="3448812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B5E7D73A-B26C-871C-889C-F4C2381D2B4E}"/>
              </a:ext>
            </a:extLst>
          </p:cNvPr>
          <p:cNvSpPr/>
          <p:nvPr/>
        </p:nvSpPr>
        <p:spPr>
          <a:xfrm>
            <a:off x="11582400" y="2891028"/>
            <a:ext cx="5439227" cy="426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Success criteria</a:t>
            </a:r>
            <a:endParaRPr lang="en-US" sz="22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D9400547-FBDD-67FC-4FA8-2BA97849B75C}"/>
              </a:ext>
            </a:extLst>
          </p:cNvPr>
          <p:cNvSpPr/>
          <p:nvPr/>
        </p:nvSpPr>
        <p:spPr>
          <a:xfrm>
            <a:off x="11430000" y="3162300"/>
            <a:ext cx="5439227" cy="25948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334155"/>
                </a:solidFill>
              </a:rPr>
              <a:t>Separate logins, generated credentials, file-based persistence, exam publishing control, timed student exam, and dashboards that mirror real university workflows.</a:t>
            </a:r>
            <a:endParaRPr lang="en-US" sz="19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C81CDA5-3D59-5A6C-58E1-8C4B11152131}"/>
              </a:ext>
            </a:extLst>
          </p:cNvPr>
          <p:cNvSpPr/>
          <p:nvPr/>
        </p:nvSpPr>
        <p:spPr>
          <a:xfrm>
            <a:off x="457200" y="49530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project?</a:t>
            </a:r>
            <a:endParaRPr lang="en-US" sz="34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7BAD39AD-6E6E-06B3-6D9E-F6A3EE310D65}"/>
              </a:ext>
            </a:extLst>
          </p:cNvPr>
          <p:cNvSpPr/>
          <p:nvPr/>
        </p:nvSpPr>
        <p:spPr>
          <a:xfrm>
            <a:off x="466344" y="1565147"/>
            <a:ext cx="13630656" cy="6440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rgbClr val="475569"/>
                </a:solidFill>
              </a:rPr>
              <a:t>The system was designed as a role-based offline prototype for a university environment.</a:t>
            </a:r>
            <a:endParaRPr lang="en-US" sz="25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AEBEE8D7-2A8F-27C7-F4FB-0419653B83D8}"/>
              </a:ext>
            </a:extLst>
          </p:cNvPr>
          <p:cNvSpPr/>
          <p:nvPr/>
        </p:nvSpPr>
        <p:spPr>
          <a:xfrm>
            <a:off x="548640" y="2781300"/>
            <a:ext cx="4412801" cy="347972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8C5421AC-9E03-C3B0-A07B-6937644FDDC9}"/>
              </a:ext>
            </a:extLst>
          </p:cNvPr>
          <p:cNvSpPr/>
          <p:nvPr/>
        </p:nvSpPr>
        <p:spPr>
          <a:xfrm>
            <a:off x="609600" y="2891027"/>
            <a:ext cx="4412801" cy="44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Problem</a:t>
            </a:r>
            <a:endParaRPr lang="en-US" sz="22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D73F5AAA-EF7E-11FD-D324-99E80B3A362A}"/>
              </a:ext>
            </a:extLst>
          </p:cNvPr>
          <p:cNvSpPr/>
          <p:nvPr/>
        </p:nvSpPr>
        <p:spPr>
          <a:xfrm>
            <a:off x="533400" y="3298589"/>
            <a:ext cx="4412801" cy="268311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Manual student management causes repeated data entry, unclear ownership, slow updates for attendance and marks, and no single place for students to check their status</a:t>
            </a:r>
            <a:r>
              <a:rPr lang="en-US" sz="1300" dirty="0">
                <a:solidFill>
                  <a:srgbClr val="334155"/>
                </a:solidFill>
              </a:rPr>
              <a:t>.</a:t>
            </a:r>
            <a:endParaRPr lang="en-US" sz="13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E947DA33-4792-B8A0-8D36-331A5142B57C}"/>
              </a:ext>
            </a:extLst>
          </p:cNvPr>
          <p:cNvSpPr/>
          <p:nvPr/>
        </p:nvSpPr>
        <p:spPr>
          <a:xfrm>
            <a:off x="5577840" y="2781300"/>
            <a:ext cx="5242560" cy="347972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BA8BF537-C68B-5C04-E53E-7EA594167CC7}"/>
              </a:ext>
            </a:extLst>
          </p:cNvPr>
          <p:cNvSpPr/>
          <p:nvPr/>
        </p:nvSpPr>
        <p:spPr>
          <a:xfrm>
            <a:off x="5742431" y="2891027"/>
            <a:ext cx="4758631" cy="430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Goal</a:t>
            </a:r>
            <a:endParaRPr lang="en-US" sz="22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567B276-B608-9E64-5E77-C0B183DF7DDD}"/>
              </a:ext>
            </a:extLst>
          </p:cNvPr>
          <p:cNvSpPr/>
          <p:nvPr/>
        </p:nvSpPr>
        <p:spPr>
          <a:xfrm>
            <a:off x="5680769" y="3165347"/>
            <a:ext cx="4758631" cy="26180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334155"/>
                </a:solidFill>
              </a:rPr>
              <a:t>Build one management system where Admin manages records, Staff updates academic data, and Student views only their own information and takes exams.</a:t>
            </a:r>
            <a:endParaRPr lang="en-US" sz="19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B4356117-C9BA-6A1E-5E1F-18A56ACDD137}"/>
              </a:ext>
            </a:extLst>
          </p:cNvPr>
          <p:cNvSpPr/>
          <p:nvPr/>
        </p:nvSpPr>
        <p:spPr>
          <a:xfrm>
            <a:off x="762000" y="6438900"/>
            <a:ext cx="1577340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152400" indent="-152400"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</a:rPr>
              <a:t>Designed in Eclipse WindowBuilder so the UI can be visually built and then connected to code logic.</a:t>
            </a:r>
          </a:p>
          <a:p>
            <a:pPr marL="152400" indent="-152400">
              <a:buSzPct val="100000"/>
              <a:buChar char="•"/>
            </a:pPr>
            <a:endParaRPr lang="en-US" sz="3200" dirty="0"/>
          </a:p>
          <a:p>
            <a:pPr marL="152400" indent="-152400"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</a:rPr>
              <a:t>Every critical action shows feedback through pop-up messages for better usability.</a:t>
            </a:r>
          </a:p>
          <a:p>
            <a:pPr marL="152400" indent="-152400">
              <a:buSzPct val="100000"/>
              <a:buChar char="•"/>
            </a:pPr>
            <a:endParaRPr lang="en-US" sz="3200" dirty="0"/>
          </a:p>
          <a:p>
            <a:pPr marL="152400" indent="-152400">
              <a:buSzPct val="100000"/>
              <a:buChar char="•"/>
            </a:pPr>
            <a:r>
              <a:rPr lang="en-US" sz="3200" dirty="0">
                <a:solidFill>
                  <a:srgbClr val="111827"/>
                </a:solidFill>
              </a:rPr>
              <a:t>Logic was prioritized over decoration: role security, flow correctness and data persistence were the main focus.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" name="Picture 1047">
            <a:extLst>
              <a:ext uri="{FF2B5EF4-FFF2-40B4-BE49-F238E27FC236}">
                <a16:creationId xmlns:a16="http://schemas.microsoft.com/office/drawing/2014/main" id="{552B6B20-EEAF-018B-8C0E-C94003362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4300"/>
            <a:ext cx="18135600" cy="10172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488F93-83A3-8C32-EA59-396BA2755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4300"/>
            <a:ext cx="17830800" cy="10172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5EF56A97-ECD0-4DB3-BC0F-A847A7062EAF}"/>
              </a:ext>
            </a:extLst>
          </p:cNvPr>
          <p:cNvSpPr/>
          <p:nvPr/>
        </p:nvSpPr>
        <p:spPr>
          <a:xfrm>
            <a:off x="411480" y="47548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insights and design decisions</a:t>
            </a:r>
            <a:endParaRPr lang="en-US" sz="27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1E8C8D9-C5F1-26C5-C84B-19F09A80D679}"/>
              </a:ext>
            </a:extLst>
          </p:cNvPr>
          <p:cNvSpPr/>
          <p:nvPr/>
        </p:nvSpPr>
        <p:spPr>
          <a:xfrm>
            <a:off x="11612880" y="651052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D0F44B0-60ED-00FE-0A64-50142D84DA61}"/>
              </a:ext>
            </a:extLst>
          </p:cNvPr>
          <p:cNvSpPr/>
          <p:nvPr/>
        </p:nvSpPr>
        <p:spPr>
          <a:xfrm>
            <a:off x="15849600" y="300934"/>
            <a:ext cx="1868424" cy="558602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C6A5C36-9B47-07C8-C066-E6A33016456E}"/>
              </a:ext>
            </a:extLst>
          </p:cNvPr>
          <p:cNvSpPr/>
          <p:nvPr/>
        </p:nvSpPr>
        <p:spPr>
          <a:xfrm>
            <a:off x="16002000" y="49530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34155"/>
                </a:solidFill>
              </a:rPr>
              <a:t>Insights</a:t>
            </a:r>
            <a:endParaRPr lang="en-US" sz="21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CC17B2D7-4DB7-BB3F-1E8A-45DFA333BB4E}"/>
              </a:ext>
            </a:extLst>
          </p:cNvPr>
          <p:cNvSpPr/>
          <p:nvPr/>
        </p:nvSpPr>
        <p:spPr>
          <a:xfrm>
            <a:off x="960120" y="1409701"/>
            <a:ext cx="4953000" cy="256936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A8A53DD-9851-B520-65C9-3EBE6A52208B}"/>
              </a:ext>
            </a:extLst>
          </p:cNvPr>
          <p:cNvSpPr/>
          <p:nvPr/>
        </p:nvSpPr>
        <p:spPr>
          <a:xfrm>
            <a:off x="1124712" y="1709682"/>
            <a:ext cx="4348566" cy="430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Role separation</a:t>
            </a:r>
            <a:endParaRPr lang="en-US" sz="18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68CC085A-37D8-E892-A62A-65F8E00BE772}"/>
              </a:ext>
            </a:extLst>
          </p:cNvPr>
          <p:cNvSpPr/>
          <p:nvPr/>
        </p:nvSpPr>
        <p:spPr>
          <a:xfrm>
            <a:off x="1124712" y="2140716"/>
            <a:ext cx="4348566" cy="1707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334155"/>
                </a:solidFill>
              </a:rPr>
              <a:t>Admin creates student accounts and payments; Staff controls attendance, exams, complaints; Student only views personal data and attempts exams.</a:t>
            </a:r>
            <a:endParaRPr lang="en-US" sz="19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D377ABC8-C8E6-DEB8-7689-023105300359}"/>
              </a:ext>
            </a:extLst>
          </p:cNvPr>
          <p:cNvSpPr/>
          <p:nvPr/>
        </p:nvSpPr>
        <p:spPr>
          <a:xfrm>
            <a:off x="10274683" y="1368741"/>
            <a:ext cx="7507224" cy="364845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458B4FF-2D1C-1E44-CFCA-E08B15D3CD9D}"/>
              </a:ext>
            </a:extLst>
          </p:cNvPr>
          <p:cNvSpPr/>
          <p:nvPr/>
        </p:nvSpPr>
        <p:spPr>
          <a:xfrm>
            <a:off x="10499304" y="1790700"/>
            <a:ext cx="4512096" cy="54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</a:rPr>
              <a:t>Generated identity</a:t>
            </a:r>
            <a:endParaRPr lang="en-US" sz="22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099DC20C-DA30-BFD5-A864-FCCB148C9331}"/>
              </a:ext>
            </a:extLst>
          </p:cNvPr>
          <p:cNvSpPr/>
          <p:nvPr/>
        </p:nvSpPr>
        <p:spPr>
          <a:xfrm>
            <a:off x="10499304" y="2576937"/>
            <a:ext cx="5731296" cy="21520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Roll number, username and password are generated to reduce manual errors and to make student login practical.</a:t>
            </a:r>
            <a:endParaRPr lang="en-US" sz="20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1F30D8C6-502B-CBFE-DB96-F3A7A8044FE5}"/>
              </a:ext>
            </a:extLst>
          </p:cNvPr>
          <p:cNvSpPr/>
          <p:nvPr/>
        </p:nvSpPr>
        <p:spPr>
          <a:xfrm>
            <a:off x="927026" y="4229100"/>
            <a:ext cx="4864174" cy="256936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43503C27-3D0E-22BF-AEF0-031C51B98BFA}"/>
              </a:ext>
            </a:extLst>
          </p:cNvPr>
          <p:cNvSpPr/>
          <p:nvPr/>
        </p:nvSpPr>
        <p:spPr>
          <a:xfrm>
            <a:off x="1215820" y="4560110"/>
            <a:ext cx="4270580" cy="430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Publish-before-view marks</a:t>
            </a:r>
            <a:endParaRPr lang="en-US" sz="180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B9F1BEF-69EE-7F19-D575-62B98F78E5DB}"/>
              </a:ext>
            </a:extLst>
          </p:cNvPr>
          <p:cNvSpPr/>
          <p:nvPr/>
        </p:nvSpPr>
        <p:spPr>
          <a:xfrm>
            <a:off x="1155192" y="5036316"/>
            <a:ext cx="4270580" cy="17073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</a:rPr>
              <a:t>Students do not see immediate marks; staff must publish them. This matches real exam governance.</a:t>
            </a:r>
            <a:endParaRPr lang="en-US" sz="2000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CED0198C-F4D5-5EB1-2862-38F6F7A45455}"/>
              </a:ext>
            </a:extLst>
          </p:cNvPr>
          <p:cNvSpPr/>
          <p:nvPr/>
        </p:nvSpPr>
        <p:spPr>
          <a:xfrm>
            <a:off x="914400" y="7048500"/>
            <a:ext cx="4953000" cy="297180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DB78D28E-728C-9BA0-4D81-2F269975B082}"/>
              </a:ext>
            </a:extLst>
          </p:cNvPr>
          <p:cNvSpPr/>
          <p:nvPr/>
        </p:nvSpPr>
        <p:spPr>
          <a:xfrm>
            <a:off x="1078992" y="7158227"/>
            <a:ext cx="4206240" cy="5624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Offline first</a:t>
            </a:r>
            <a:endParaRPr lang="en-US" sz="18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AC17118C-6DFE-1E39-A4C9-57AC9CC753F2}"/>
              </a:ext>
            </a:extLst>
          </p:cNvPr>
          <p:cNvSpPr/>
          <p:nvPr/>
        </p:nvSpPr>
        <p:spPr>
          <a:xfrm>
            <a:off x="1078992" y="7429500"/>
            <a:ext cx="4206240" cy="223103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334155"/>
                </a:solidFill>
              </a:rPr>
              <a:t>Text files were used as a simple local data layer to keep the prototype runnable without a server or database.</a:t>
            </a:r>
            <a:endParaRPr lang="en-US" sz="1900" dirty="0"/>
          </a:p>
        </p:txBody>
      </p:sp>
      <p:sp>
        <p:nvSpPr>
          <p:cNvPr id="31" name="Shape 20">
            <a:extLst>
              <a:ext uri="{FF2B5EF4-FFF2-40B4-BE49-F238E27FC236}">
                <a16:creationId xmlns:a16="http://schemas.microsoft.com/office/drawing/2014/main" id="{2B6F2C84-6A2A-8BE7-55A4-C201E536087F}"/>
              </a:ext>
            </a:extLst>
          </p:cNvPr>
          <p:cNvSpPr/>
          <p:nvPr/>
        </p:nvSpPr>
        <p:spPr>
          <a:xfrm>
            <a:off x="10210800" y="5439154"/>
            <a:ext cx="7571107" cy="4581145"/>
          </a:xfrm>
          <a:prstGeom prst="roundRect">
            <a:avLst>
              <a:gd name="adj" fmla="val 16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5338BC10-D30C-B3B5-671B-0AB1C716A7AC}"/>
              </a:ext>
            </a:extLst>
          </p:cNvPr>
          <p:cNvSpPr/>
          <p:nvPr/>
        </p:nvSpPr>
        <p:spPr>
          <a:xfrm>
            <a:off x="10406634" y="5753100"/>
            <a:ext cx="731139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E8F0"/>
                </a:solidFill>
              </a:rPr>
              <a:t>Logic lens</a:t>
            </a:r>
            <a:endParaRPr lang="en-US" sz="200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06601454-34B1-DE46-2BA1-D7697520E7EB}"/>
              </a:ext>
            </a:extLst>
          </p:cNvPr>
          <p:cNvSpPr/>
          <p:nvPr/>
        </p:nvSpPr>
        <p:spPr>
          <a:xfrm>
            <a:off x="10434609" y="5829300"/>
            <a:ext cx="7256417" cy="396239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principle: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 is visual, but logic is rule-driven.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Every feature answers one question: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who can create it?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who can update it?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who can only view it?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the rule that makes the portal realistic</a:t>
            </a: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E1C62F-EA8C-0A86-E140-61D4F034C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118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1EF71-E426-DC49-F957-2E1D6AF64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15400" cy="10287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F50AA9-1B69-A69E-9D22-5C4C15A73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0" y="800100"/>
            <a:ext cx="4549534" cy="7590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17716-8DE4-CC6F-A9C5-74A1ED209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8100"/>
            <a:ext cx="8672312" cy="101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F7083E-ADA9-511A-C269-8BB66C857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76200"/>
            <a:ext cx="9067800" cy="100965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AA0021-98AC-BBD5-312A-493406D89B22}"/>
              </a:ext>
            </a:extLst>
          </p:cNvPr>
          <p:cNvCxnSpPr/>
          <p:nvPr/>
        </p:nvCxnSpPr>
        <p:spPr>
          <a:xfrm>
            <a:off x="8763000" y="0"/>
            <a:ext cx="0" cy="10287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">
            <a:extLst>
              <a:ext uri="{FF2B5EF4-FFF2-40B4-BE49-F238E27FC236}">
                <a16:creationId xmlns:a16="http://schemas.microsoft.com/office/drawing/2014/main" id="{6E10F87F-69BE-5B57-AF80-B38F569A9475}"/>
              </a:ext>
            </a:extLst>
          </p:cNvPr>
          <p:cNvSpPr/>
          <p:nvPr/>
        </p:nvSpPr>
        <p:spPr>
          <a:xfrm>
            <a:off x="411480" y="873252"/>
            <a:ext cx="10180320" cy="688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5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 and development environment</a:t>
            </a:r>
            <a:endParaRPr lang="en-US" sz="4500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4BADCDA-0D52-4959-EC60-E622A445BFE0}"/>
              </a:ext>
            </a:extLst>
          </p:cNvPr>
          <p:cNvSpPr/>
          <p:nvPr/>
        </p:nvSpPr>
        <p:spPr>
          <a:xfrm>
            <a:off x="11612880" y="6655308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679E6461-F237-97EA-DBCD-CA9673718BB4}"/>
              </a:ext>
            </a:extLst>
          </p:cNvPr>
          <p:cNvSpPr/>
          <p:nvPr/>
        </p:nvSpPr>
        <p:spPr>
          <a:xfrm>
            <a:off x="15956280" y="220980"/>
            <a:ext cx="2026920" cy="42672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15706902-B4C1-2A8B-B0F4-338A9452C1B5}"/>
              </a:ext>
            </a:extLst>
          </p:cNvPr>
          <p:cNvSpPr/>
          <p:nvPr/>
        </p:nvSpPr>
        <p:spPr>
          <a:xfrm>
            <a:off x="16154400" y="34290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34155"/>
                </a:solidFill>
              </a:rPr>
              <a:t>Methodology</a:t>
            </a:r>
            <a:endParaRPr lang="en-US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88837516-4C7B-CE2A-39D9-23A9C99EBA05}"/>
              </a:ext>
            </a:extLst>
          </p:cNvPr>
          <p:cNvSpPr/>
          <p:nvPr/>
        </p:nvSpPr>
        <p:spPr>
          <a:xfrm>
            <a:off x="11673840" y="2186940"/>
            <a:ext cx="5166360" cy="27279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218D954-D36F-B375-19B7-551FD80DC170}"/>
              </a:ext>
            </a:extLst>
          </p:cNvPr>
          <p:cNvSpPr/>
          <p:nvPr/>
        </p:nvSpPr>
        <p:spPr>
          <a:xfrm>
            <a:off x="11838432" y="2220467"/>
            <a:ext cx="4837176" cy="502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</a:rPr>
              <a:t>WindowBuilder workflow</a:t>
            </a:r>
            <a:endParaRPr lang="en-US" sz="18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1A506E0-320E-F104-157F-79125C24596F}"/>
              </a:ext>
            </a:extLst>
          </p:cNvPr>
          <p:cNvSpPr/>
          <p:nvPr/>
        </p:nvSpPr>
        <p:spPr>
          <a:xfrm>
            <a:off x="11838432" y="2781300"/>
            <a:ext cx="4837176" cy="218552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Design the JFrame visually → place components like labels, fields and buttons → assign names/events → connect event handlers to business logic. This reduced layout friction and kept the focus on application flow.</a:t>
            </a:r>
            <a:endParaRPr lang="en-US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85CEC87F-E0CC-8ECC-44C1-CE260CE3A01C}"/>
              </a:ext>
            </a:extLst>
          </p:cNvPr>
          <p:cNvSpPr/>
          <p:nvPr/>
        </p:nvSpPr>
        <p:spPr>
          <a:xfrm>
            <a:off x="11597640" y="5448300"/>
            <a:ext cx="24231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15847D95-9B9C-9E92-5010-85991CD5014E}"/>
              </a:ext>
            </a:extLst>
          </p:cNvPr>
          <p:cNvSpPr/>
          <p:nvPr/>
        </p:nvSpPr>
        <p:spPr>
          <a:xfrm>
            <a:off x="11762232" y="5558028"/>
            <a:ext cx="20939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</a:rPr>
              <a:t>Technology stack</a:t>
            </a:r>
            <a:endParaRPr lang="en-US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E471ECBE-06BC-855F-DFB2-D3DFE9FD78B2}"/>
              </a:ext>
            </a:extLst>
          </p:cNvPr>
          <p:cNvSpPr/>
          <p:nvPr/>
        </p:nvSpPr>
        <p:spPr>
          <a:xfrm>
            <a:off x="11762232" y="5832348"/>
            <a:ext cx="2093976" cy="1399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Java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Swing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Eclipse IDE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WindowBuilder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Text-file persistence</a:t>
            </a:r>
            <a:endParaRPr lang="en-US" sz="130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681F8627-CF6E-AB3C-990B-F20D6622C9E2}"/>
              </a:ext>
            </a:extLst>
          </p:cNvPr>
          <p:cNvSpPr/>
          <p:nvPr/>
        </p:nvSpPr>
        <p:spPr>
          <a:xfrm>
            <a:off x="14295120" y="5448300"/>
            <a:ext cx="2468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CB98129E-CEF5-2CA4-A03B-6E195DE6B8E2}"/>
              </a:ext>
            </a:extLst>
          </p:cNvPr>
          <p:cNvSpPr/>
          <p:nvPr/>
        </p:nvSpPr>
        <p:spPr>
          <a:xfrm>
            <a:off x="14459712" y="5558028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</a:rPr>
              <a:t>Process used</a:t>
            </a:r>
            <a:endParaRPr lang="en-US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AA0CB536-4BBC-E933-AF3A-8FC9A7E9D534}"/>
              </a:ext>
            </a:extLst>
          </p:cNvPr>
          <p:cNvSpPr/>
          <p:nvPr/>
        </p:nvSpPr>
        <p:spPr>
          <a:xfrm>
            <a:off x="14459712" y="5832348"/>
            <a:ext cx="2139696" cy="1399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1. Build UI shell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2. Connect login logic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3. Add file persistence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4. Add role-specific modules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5. Add exam engine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</a:rPr>
              <a:t>6. Add analytics</a:t>
            </a:r>
            <a:endParaRPr lang="en-US" sz="130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9C80F922-1D17-0DB4-7EEB-B77B0EF57EE2}"/>
              </a:ext>
            </a:extLst>
          </p:cNvPr>
          <p:cNvSpPr/>
          <p:nvPr/>
        </p:nvSpPr>
        <p:spPr>
          <a:xfrm>
            <a:off x="11109960" y="8115300"/>
            <a:ext cx="6873240" cy="2071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Started with page navigation first so the whole system could be demonstrated end-to-end.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Then added persistence and control rules so each role had correct permissions.</a:t>
            </a:r>
            <a:endParaRPr lang="en-US" sz="1900" dirty="0"/>
          </a:p>
          <a:p>
            <a:pPr marL="152400" indent="-1524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Finally added advanced features: timed exams, publish marks, complaint status and graphs.</a:t>
            </a:r>
            <a:endParaRPr lang="en-US" sz="1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DF08BCF-5141-1EA7-44E2-D2BD44F7A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0" y="2220467"/>
            <a:ext cx="9821100" cy="791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63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FC4132-56CC-B044-F178-194A00F3B9FD}"/>
              </a:ext>
            </a:extLst>
          </p:cNvPr>
          <p:cNvSpPr txBox="1"/>
          <p:nvPr/>
        </p:nvSpPr>
        <p:spPr>
          <a:xfrm>
            <a:off x="228600" y="419100"/>
            <a:ext cx="111556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dirty="0">
                <a:solidFill>
                  <a:srgbClr val="0E2544"/>
                </a:solidFill>
              </a:rPr>
              <a:t>Why each Java Swing component was used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28D034-F7A7-114A-D3C5-73381B13D7E0}"/>
              </a:ext>
            </a:extLst>
          </p:cNvPr>
          <p:cNvSpPr/>
          <p:nvPr/>
        </p:nvSpPr>
        <p:spPr>
          <a:xfrm>
            <a:off x="381000" y="1104900"/>
            <a:ext cx="3035808" cy="1178022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5F8DF-8B09-722B-733C-B97A6FF544C3}"/>
              </a:ext>
            </a:extLst>
          </p:cNvPr>
          <p:cNvSpPr txBox="1"/>
          <p:nvPr/>
        </p:nvSpPr>
        <p:spPr>
          <a:xfrm>
            <a:off x="490728" y="1168907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JFrame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485A28-A548-EDD9-D0FF-2B54C2E28FF5}"/>
              </a:ext>
            </a:extLst>
          </p:cNvPr>
          <p:cNvSpPr txBox="1"/>
          <p:nvPr/>
        </p:nvSpPr>
        <p:spPr>
          <a:xfrm>
            <a:off x="490728" y="1415796"/>
            <a:ext cx="2880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Main window for each portal or submodule like login, dashboard, attendance, and exam pages.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E5502A7-D326-0390-FD36-31720137E46A}"/>
              </a:ext>
            </a:extLst>
          </p:cNvPr>
          <p:cNvSpPr/>
          <p:nvPr/>
        </p:nvSpPr>
        <p:spPr>
          <a:xfrm>
            <a:off x="381000" y="6896100"/>
            <a:ext cx="2990088" cy="1249679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FB0BB3-E7E8-F15B-2DCD-929A10FD03E7}"/>
              </a:ext>
            </a:extLst>
          </p:cNvPr>
          <p:cNvSpPr txBox="1"/>
          <p:nvPr/>
        </p:nvSpPr>
        <p:spPr>
          <a:xfrm>
            <a:off x="490728" y="6883907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JPanel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B984F-328F-72E0-2E6F-40E75BEA65D6}"/>
              </a:ext>
            </a:extLst>
          </p:cNvPr>
          <p:cNvSpPr txBox="1"/>
          <p:nvPr/>
        </p:nvSpPr>
        <p:spPr>
          <a:xfrm>
            <a:off x="490728" y="7130796"/>
            <a:ext cx="2880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Used to group controls and keep screen layout organized.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5CCABFE-88EB-E24C-1059-7A2260A9D0A8}"/>
              </a:ext>
            </a:extLst>
          </p:cNvPr>
          <p:cNvSpPr/>
          <p:nvPr/>
        </p:nvSpPr>
        <p:spPr>
          <a:xfrm>
            <a:off x="4023360" y="3771899"/>
            <a:ext cx="3035808" cy="1350193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CFAF5-4D56-0727-26F6-6F67EEB2C756}"/>
              </a:ext>
            </a:extLst>
          </p:cNvPr>
          <p:cNvSpPr txBox="1"/>
          <p:nvPr/>
        </p:nvSpPr>
        <p:spPr>
          <a:xfrm>
            <a:off x="4148327" y="4034027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JLabel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81147-7E2C-E2FC-7650-74E7A0C00E0C}"/>
              </a:ext>
            </a:extLst>
          </p:cNvPr>
          <p:cNvSpPr txBox="1"/>
          <p:nvPr/>
        </p:nvSpPr>
        <p:spPr>
          <a:xfrm>
            <a:off x="4148327" y="4280916"/>
            <a:ext cx="288036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32323"/>
                </a:solidFill>
              </a:rPr>
              <a:t>Used for titles, field names, instructions, timer text, and welcome messages.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59E0B18-BF27-87F7-B347-DC86BBBD9CEC}"/>
              </a:ext>
            </a:extLst>
          </p:cNvPr>
          <p:cNvSpPr/>
          <p:nvPr/>
        </p:nvSpPr>
        <p:spPr>
          <a:xfrm>
            <a:off x="381000" y="2400299"/>
            <a:ext cx="3035808" cy="1238167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D8DC1-ADF5-C180-E986-15B29B949B7E}"/>
              </a:ext>
            </a:extLst>
          </p:cNvPr>
          <p:cNvSpPr txBox="1"/>
          <p:nvPr/>
        </p:nvSpPr>
        <p:spPr>
          <a:xfrm>
            <a:off x="490728" y="24643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JTextField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4917FC-D167-4E7D-3D7F-78EEBF250249}"/>
              </a:ext>
            </a:extLst>
          </p:cNvPr>
          <p:cNvSpPr txBox="1"/>
          <p:nvPr/>
        </p:nvSpPr>
        <p:spPr>
          <a:xfrm>
            <a:off x="490728" y="2711196"/>
            <a:ext cx="2880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Used for username, roll number, marks, amounts, dates, and general input.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AC01FAEC-9490-C334-DC22-AF66C3C561F9}"/>
              </a:ext>
            </a:extLst>
          </p:cNvPr>
          <p:cNvSpPr/>
          <p:nvPr/>
        </p:nvSpPr>
        <p:spPr>
          <a:xfrm>
            <a:off x="321564" y="8499841"/>
            <a:ext cx="3095244" cy="1238167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E760B2-AA4F-02CB-0734-4FB07F87E893}"/>
              </a:ext>
            </a:extLst>
          </p:cNvPr>
          <p:cNvSpPr txBox="1"/>
          <p:nvPr/>
        </p:nvSpPr>
        <p:spPr>
          <a:xfrm>
            <a:off x="490728" y="84841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JPasswordField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26EEA8-C05A-6AFE-F73F-F3331B36A4D7}"/>
              </a:ext>
            </a:extLst>
          </p:cNvPr>
          <p:cNvSpPr txBox="1"/>
          <p:nvPr/>
        </p:nvSpPr>
        <p:spPr>
          <a:xfrm>
            <a:off x="490728" y="8730996"/>
            <a:ext cx="28803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</a:rPr>
              <a:t>Used in login pages to hide password characters.</a:t>
            </a:r>
          </a:p>
        </p:txBody>
      </p:sp>
      <p:sp>
        <p:nvSpPr>
          <p:cNvPr id="28" name="Rounded Rectangle 20">
            <a:extLst>
              <a:ext uri="{FF2B5EF4-FFF2-40B4-BE49-F238E27FC236}">
                <a16:creationId xmlns:a16="http://schemas.microsoft.com/office/drawing/2014/main" id="{29749DDB-92AA-F4A1-7734-AA362542CDE1}"/>
              </a:ext>
            </a:extLst>
          </p:cNvPr>
          <p:cNvSpPr/>
          <p:nvPr/>
        </p:nvSpPr>
        <p:spPr>
          <a:xfrm>
            <a:off x="4038600" y="5372099"/>
            <a:ext cx="3035808" cy="130802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4D0F03-D62A-233E-4EC1-CDBFE428CD47}"/>
              </a:ext>
            </a:extLst>
          </p:cNvPr>
          <p:cNvSpPr txBox="1"/>
          <p:nvPr/>
        </p:nvSpPr>
        <p:spPr>
          <a:xfrm>
            <a:off x="4148327" y="54361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JComboBox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888C61-C0AB-F8F6-AFCE-13642B028E1B}"/>
              </a:ext>
            </a:extLst>
          </p:cNvPr>
          <p:cNvSpPr txBox="1"/>
          <p:nvPr/>
        </p:nvSpPr>
        <p:spPr>
          <a:xfrm>
            <a:off x="4148327" y="5682996"/>
            <a:ext cx="288036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32323"/>
                </a:solidFill>
              </a:rPr>
              <a:t>Used where the user must pick from fixed options such as course/branch instead of typing random text.</a:t>
            </a:r>
          </a:p>
        </p:txBody>
      </p:sp>
      <p:sp>
        <p:nvSpPr>
          <p:cNvPr id="31" name="Rounded Rectangle 23">
            <a:extLst>
              <a:ext uri="{FF2B5EF4-FFF2-40B4-BE49-F238E27FC236}">
                <a16:creationId xmlns:a16="http://schemas.microsoft.com/office/drawing/2014/main" id="{F596384D-B4F7-5906-8B53-71CE19450E69}"/>
              </a:ext>
            </a:extLst>
          </p:cNvPr>
          <p:cNvSpPr/>
          <p:nvPr/>
        </p:nvSpPr>
        <p:spPr>
          <a:xfrm>
            <a:off x="393192" y="3771899"/>
            <a:ext cx="3035808" cy="1441705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3B9E00-D478-7C6C-0676-FDFD61BAE8D1}"/>
              </a:ext>
            </a:extLst>
          </p:cNvPr>
          <p:cNvSpPr txBox="1"/>
          <p:nvPr/>
        </p:nvSpPr>
        <p:spPr>
          <a:xfrm>
            <a:off x="536448" y="38359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JButton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D1118B-141A-5073-6EAA-737DC09F5A59}"/>
              </a:ext>
            </a:extLst>
          </p:cNvPr>
          <p:cNvSpPr txBox="1"/>
          <p:nvPr/>
        </p:nvSpPr>
        <p:spPr>
          <a:xfrm>
            <a:off x="536448" y="4082796"/>
            <a:ext cx="2880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Triggers all actions through event listeners: login, save, search, generate, publish, refresh, and logout.</a:t>
            </a:r>
          </a:p>
        </p:txBody>
      </p:sp>
      <p:sp>
        <p:nvSpPr>
          <p:cNvPr id="34" name="Rounded Rectangle 26">
            <a:extLst>
              <a:ext uri="{FF2B5EF4-FFF2-40B4-BE49-F238E27FC236}">
                <a16:creationId xmlns:a16="http://schemas.microsoft.com/office/drawing/2014/main" id="{59D796BA-6576-6DA3-D5ED-B242E3887539}"/>
              </a:ext>
            </a:extLst>
          </p:cNvPr>
          <p:cNvSpPr/>
          <p:nvPr/>
        </p:nvSpPr>
        <p:spPr>
          <a:xfrm>
            <a:off x="4069080" y="1104899"/>
            <a:ext cx="2990088" cy="1185601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D1CC4D-00F5-075A-B79A-83584F94B978}"/>
              </a:ext>
            </a:extLst>
          </p:cNvPr>
          <p:cNvSpPr txBox="1"/>
          <p:nvPr/>
        </p:nvSpPr>
        <p:spPr>
          <a:xfrm>
            <a:off x="4178808" y="12451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JTable + DefaultTableModel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A31CB8-4D69-C63B-57E3-82A5439CF859}"/>
              </a:ext>
            </a:extLst>
          </p:cNvPr>
          <p:cNvSpPr txBox="1"/>
          <p:nvPr/>
        </p:nvSpPr>
        <p:spPr>
          <a:xfrm>
            <a:off x="4178808" y="1491996"/>
            <a:ext cx="288036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32323"/>
                </a:solidFill>
              </a:rPr>
              <a:t>Used to show structured data like attendance, marks, analytics, complaints, and student lists.</a:t>
            </a:r>
          </a:p>
        </p:txBody>
      </p:sp>
      <p:sp>
        <p:nvSpPr>
          <p:cNvPr id="37" name="Rounded Rectangle 29">
            <a:extLst>
              <a:ext uri="{FF2B5EF4-FFF2-40B4-BE49-F238E27FC236}">
                <a16:creationId xmlns:a16="http://schemas.microsoft.com/office/drawing/2014/main" id="{C17F8ADB-896E-8539-CEA3-9F80531B1EFF}"/>
              </a:ext>
            </a:extLst>
          </p:cNvPr>
          <p:cNvSpPr/>
          <p:nvPr/>
        </p:nvSpPr>
        <p:spPr>
          <a:xfrm>
            <a:off x="4038600" y="6819900"/>
            <a:ext cx="3020568" cy="1337178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F33B4A-E425-C260-382A-46FAB5327C4B}"/>
              </a:ext>
            </a:extLst>
          </p:cNvPr>
          <p:cNvSpPr txBox="1"/>
          <p:nvPr/>
        </p:nvSpPr>
        <p:spPr>
          <a:xfrm>
            <a:off x="4148327" y="6883908"/>
            <a:ext cx="275791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JTextArea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691145-C503-FC32-2D7E-5B3A0E998855}"/>
              </a:ext>
            </a:extLst>
          </p:cNvPr>
          <p:cNvSpPr txBox="1"/>
          <p:nvPr/>
        </p:nvSpPr>
        <p:spPr>
          <a:xfrm>
            <a:off x="4148327" y="7130796"/>
            <a:ext cx="275791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32323"/>
                </a:solidFill>
              </a:rPr>
              <a:t>Used where longer text is needed, like complaints and multi-line guidance.</a:t>
            </a:r>
          </a:p>
        </p:txBody>
      </p:sp>
      <p:sp>
        <p:nvSpPr>
          <p:cNvPr id="40" name="Rounded Rectangle 32">
            <a:extLst>
              <a:ext uri="{FF2B5EF4-FFF2-40B4-BE49-F238E27FC236}">
                <a16:creationId xmlns:a16="http://schemas.microsoft.com/office/drawing/2014/main" id="{D3039DA3-88D7-B1D0-2685-72CEDD73D552}"/>
              </a:ext>
            </a:extLst>
          </p:cNvPr>
          <p:cNvSpPr/>
          <p:nvPr/>
        </p:nvSpPr>
        <p:spPr>
          <a:xfrm>
            <a:off x="381000" y="5372100"/>
            <a:ext cx="2990088" cy="1357175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AE86EE-135D-39E5-AA78-773F8BF32794}"/>
              </a:ext>
            </a:extLst>
          </p:cNvPr>
          <p:cNvSpPr txBox="1"/>
          <p:nvPr/>
        </p:nvSpPr>
        <p:spPr>
          <a:xfrm>
            <a:off x="490728" y="53599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JScrollPane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4C6890-F99B-6973-054D-29B840CA3F27}"/>
              </a:ext>
            </a:extLst>
          </p:cNvPr>
          <p:cNvSpPr txBox="1"/>
          <p:nvPr/>
        </p:nvSpPr>
        <p:spPr>
          <a:xfrm>
            <a:off x="490728" y="5606796"/>
            <a:ext cx="28803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232323"/>
                </a:solidFill>
              </a:rPr>
              <a:t>Wraps tables and text areas so large content stays readable and scrollable.</a:t>
            </a:r>
          </a:p>
        </p:txBody>
      </p:sp>
      <p:sp>
        <p:nvSpPr>
          <p:cNvPr id="43" name="Rounded Rectangle 35">
            <a:extLst>
              <a:ext uri="{FF2B5EF4-FFF2-40B4-BE49-F238E27FC236}">
                <a16:creationId xmlns:a16="http://schemas.microsoft.com/office/drawing/2014/main" id="{61686B6E-1637-F563-30FD-357F718BB6D5}"/>
              </a:ext>
            </a:extLst>
          </p:cNvPr>
          <p:cNvSpPr/>
          <p:nvPr/>
        </p:nvSpPr>
        <p:spPr>
          <a:xfrm>
            <a:off x="4069080" y="2476499"/>
            <a:ext cx="2990088" cy="1129875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0348E9-D0BC-D582-FCE4-7F9336D82B05}"/>
              </a:ext>
            </a:extLst>
          </p:cNvPr>
          <p:cNvSpPr txBox="1"/>
          <p:nvPr/>
        </p:nvSpPr>
        <p:spPr>
          <a:xfrm>
            <a:off x="4178808" y="25405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JRadioButton + ButtonGroup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FA7316-3602-A2FD-4E62-7CD377E9ECDA}"/>
              </a:ext>
            </a:extLst>
          </p:cNvPr>
          <p:cNvSpPr txBox="1"/>
          <p:nvPr/>
        </p:nvSpPr>
        <p:spPr>
          <a:xfrm>
            <a:off x="4178808" y="2787396"/>
            <a:ext cx="288036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32323"/>
                </a:solidFill>
              </a:rPr>
              <a:t>Used in MCQ exams so the student can choose only one option per question.</a:t>
            </a:r>
          </a:p>
        </p:txBody>
      </p:sp>
      <p:sp>
        <p:nvSpPr>
          <p:cNvPr id="46" name="Rounded Rectangle 38">
            <a:extLst>
              <a:ext uri="{FF2B5EF4-FFF2-40B4-BE49-F238E27FC236}">
                <a16:creationId xmlns:a16="http://schemas.microsoft.com/office/drawing/2014/main" id="{3F0281F4-4426-867C-A9F4-3E8ACD6FC30E}"/>
              </a:ext>
            </a:extLst>
          </p:cNvPr>
          <p:cNvSpPr/>
          <p:nvPr/>
        </p:nvSpPr>
        <p:spPr>
          <a:xfrm>
            <a:off x="4038600" y="8496299"/>
            <a:ext cx="3020568" cy="1276433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2C9142-ADE5-37BB-A5C3-5783CEFB4511}"/>
              </a:ext>
            </a:extLst>
          </p:cNvPr>
          <p:cNvSpPr txBox="1"/>
          <p:nvPr/>
        </p:nvSpPr>
        <p:spPr>
          <a:xfrm>
            <a:off x="4148327" y="8560308"/>
            <a:ext cx="2880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544"/>
                </a:solidFill>
              </a:rPr>
              <a:t>Timer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7CD032-551E-B355-E73B-9B6759B4F587}"/>
              </a:ext>
            </a:extLst>
          </p:cNvPr>
          <p:cNvSpPr txBox="1"/>
          <p:nvPr/>
        </p:nvSpPr>
        <p:spPr>
          <a:xfrm>
            <a:off x="4148327" y="8807196"/>
            <a:ext cx="288036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>
                <a:solidFill>
                  <a:srgbClr val="232323"/>
                </a:solidFill>
              </a:rPr>
              <a:t>Used in the exam module to enforce 35 minutes and auto-submit when time is over.</a:t>
            </a:r>
          </a:p>
        </p:txBody>
      </p:sp>
      <p:sp>
        <p:nvSpPr>
          <p:cNvPr id="2" name="Shape 30">
            <a:extLst>
              <a:ext uri="{FF2B5EF4-FFF2-40B4-BE49-F238E27FC236}">
                <a16:creationId xmlns:a16="http://schemas.microsoft.com/office/drawing/2014/main" id="{B4D87D4B-3B7C-407B-E835-CCD13DEE488B}"/>
              </a:ext>
            </a:extLst>
          </p:cNvPr>
          <p:cNvSpPr/>
          <p:nvPr/>
        </p:nvSpPr>
        <p:spPr>
          <a:xfrm>
            <a:off x="12420600" y="4914900"/>
            <a:ext cx="5410200" cy="4747260"/>
          </a:xfrm>
          <a:prstGeom prst="roundRect">
            <a:avLst>
              <a:gd name="adj" fmla="val 140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31">
            <a:extLst>
              <a:ext uri="{FF2B5EF4-FFF2-40B4-BE49-F238E27FC236}">
                <a16:creationId xmlns:a16="http://schemas.microsoft.com/office/drawing/2014/main" id="{22C47BC4-0AD4-3A18-E8F1-54E42A086880}"/>
              </a:ext>
            </a:extLst>
          </p:cNvPr>
          <p:cNvSpPr/>
          <p:nvPr/>
        </p:nvSpPr>
        <p:spPr>
          <a:xfrm>
            <a:off x="12595617" y="5295900"/>
            <a:ext cx="4971111" cy="333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2E8F0"/>
                </a:solidFill>
              </a:rPr>
              <a:t>Component flow</a:t>
            </a:r>
            <a:endParaRPr lang="en-US" dirty="0"/>
          </a:p>
        </p:txBody>
      </p:sp>
      <p:sp>
        <p:nvSpPr>
          <p:cNvPr id="5" name="Text 32">
            <a:extLst>
              <a:ext uri="{FF2B5EF4-FFF2-40B4-BE49-F238E27FC236}">
                <a16:creationId xmlns:a16="http://schemas.microsoft.com/office/drawing/2014/main" id="{408B5BD0-3431-2353-08C6-4ABFC9A70686}"/>
              </a:ext>
            </a:extLst>
          </p:cNvPr>
          <p:cNvSpPr/>
          <p:nvPr/>
        </p:nvSpPr>
        <p:spPr>
          <a:xfrm>
            <a:off x="12620619" y="5327984"/>
            <a:ext cx="4908385" cy="404766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UI logic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JFrame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JPanel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JLabel title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JTextField username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JPasswordField password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JButton login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click -&gt; validate -&gt; navigate</a:t>
            </a:r>
            <a:endParaRPr lang="en-US" dirty="0"/>
          </a:p>
        </p:txBody>
      </p:sp>
      <p:sp>
        <p:nvSpPr>
          <p:cNvPr id="18" name="Shape 20">
            <a:extLst>
              <a:ext uri="{FF2B5EF4-FFF2-40B4-BE49-F238E27FC236}">
                <a16:creationId xmlns:a16="http://schemas.microsoft.com/office/drawing/2014/main" id="{BC7F1B4D-B414-B38D-2E34-CB3C1E590E80}"/>
              </a:ext>
            </a:extLst>
          </p:cNvPr>
          <p:cNvSpPr/>
          <p:nvPr/>
        </p:nvSpPr>
        <p:spPr>
          <a:xfrm>
            <a:off x="12420600" y="190500"/>
            <a:ext cx="5330951" cy="457200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2F7EEBE3-A771-53EC-DBE3-1E90DEF51DA3}"/>
              </a:ext>
            </a:extLst>
          </p:cNvPr>
          <p:cNvSpPr/>
          <p:nvPr/>
        </p:nvSpPr>
        <p:spPr>
          <a:xfrm>
            <a:off x="12780307" y="495693"/>
            <a:ext cx="4390372" cy="398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827"/>
                </a:solidFill>
              </a:rPr>
              <a:t>Main modules</a:t>
            </a:r>
            <a:endParaRPr lang="en-US" sz="1900" dirty="0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8DEE303F-C8F9-A405-3AE1-4F25B5BFA719}"/>
              </a:ext>
            </a:extLst>
          </p:cNvPr>
          <p:cNvSpPr/>
          <p:nvPr/>
        </p:nvSpPr>
        <p:spPr>
          <a:xfrm>
            <a:off x="12780307" y="610336"/>
            <a:ext cx="4390372" cy="395094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• Entry point: MainPage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• Login pages: AdministrativeLoginPage, StaffLoginPage, StudentLoginPage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• Dashboards: AdministrativeDashboardPage, StaffDashboardPage, StudentDashboard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334155"/>
                </a:solidFill>
              </a:rPr>
              <a:t>• Specialized pages: attendance, marks, payments, complaints, exam creation and exam writing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1B7D76E-0A18-E7B5-3577-C4B505F823A8}"/>
              </a:ext>
            </a:extLst>
          </p:cNvPr>
          <p:cNvSpPr/>
          <p:nvPr/>
        </p:nvSpPr>
        <p:spPr>
          <a:xfrm>
            <a:off x="304800" y="568451"/>
            <a:ext cx="15392400" cy="7680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Complaint management logic</a:t>
            </a:r>
            <a:endParaRPr lang="en-US" sz="2700" dirty="0"/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197B0B4A-8E2F-56A9-FCFD-4ABAB8630AEF}"/>
              </a:ext>
            </a:extLst>
          </p:cNvPr>
          <p:cNvSpPr/>
          <p:nvPr/>
        </p:nvSpPr>
        <p:spPr>
          <a:xfrm>
            <a:off x="1828800" y="2506980"/>
            <a:ext cx="424053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698A3028-06D8-1E76-4C9F-537B02097481}"/>
              </a:ext>
            </a:extLst>
          </p:cNvPr>
          <p:cNvSpPr/>
          <p:nvPr/>
        </p:nvSpPr>
        <p:spPr>
          <a:xfrm>
            <a:off x="4480560" y="2506980"/>
            <a:ext cx="424053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C5D1AF18-686E-7EA2-BFA8-178A8368403D}"/>
              </a:ext>
            </a:extLst>
          </p:cNvPr>
          <p:cNvSpPr/>
          <p:nvPr/>
        </p:nvSpPr>
        <p:spPr>
          <a:xfrm>
            <a:off x="7132319" y="2506980"/>
            <a:ext cx="4341495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FA674B29-0CE2-0720-F910-54DF6350EE0E}"/>
              </a:ext>
            </a:extLst>
          </p:cNvPr>
          <p:cNvSpPr/>
          <p:nvPr/>
        </p:nvSpPr>
        <p:spPr>
          <a:xfrm>
            <a:off x="685799" y="1958340"/>
            <a:ext cx="2524125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4FFCA62F-2846-6E1F-2A69-5A4D04F066D8}"/>
              </a:ext>
            </a:extLst>
          </p:cNvPr>
          <p:cNvSpPr/>
          <p:nvPr/>
        </p:nvSpPr>
        <p:spPr>
          <a:xfrm>
            <a:off x="731519" y="2040636"/>
            <a:ext cx="2322195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Student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submits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complaint</a:t>
            </a: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DD8A3F51-E70D-9F3D-0460-6E6B360A85FC}"/>
              </a:ext>
            </a:extLst>
          </p:cNvPr>
          <p:cNvSpPr/>
          <p:nvPr/>
        </p:nvSpPr>
        <p:spPr>
          <a:xfrm>
            <a:off x="3749040" y="1958340"/>
            <a:ext cx="1737360" cy="109726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BA8C7A3-6F5E-5FB2-0DC2-AD22C703B7B6}"/>
              </a:ext>
            </a:extLst>
          </p:cNvPr>
          <p:cNvSpPr/>
          <p:nvPr/>
        </p:nvSpPr>
        <p:spPr>
          <a:xfrm>
            <a:off x="3920490" y="2040636"/>
            <a:ext cx="1413510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Stored 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complaints.txt</a:t>
            </a:r>
            <a:endParaRPr lang="en-US" sz="16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DBF05375-ABFB-BF90-5DD7-D3A5F63FF44E}"/>
              </a:ext>
            </a:extLst>
          </p:cNvPr>
          <p:cNvSpPr/>
          <p:nvPr/>
        </p:nvSpPr>
        <p:spPr>
          <a:xfrm>
            <a:off x="6400800" y="1958340"/>
            <a:ext cx="1615440" cy="10972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8F6AC91-E0A7-8B47-5A4C-B1A6BE61213A}"/>
              </a:ext>
            </a:extLst>
          </p:cNvPr>
          <p:cNvSpPr/>
          <p:nvPr/>
        </p:nvSpPr>
        <p:spPr>
          <a:xfrm>
            <a:off x="6446520" y="2040636"/>
            <a:ext cx="1413510" cy="9875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Staff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reviews</a:t>
            </a:r>
            <a:endParaRPr lang="en-US" sz="16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96C6C9AF-470A-21C6-4654-54F5067ECA48}"/>
              </a:ext>
            </a:extLst>
          </p:cNvPr>
          <p:cNvSpPr/>
          <p:nvPr/>
        </p:nvSpPr>
        <p:spPr>
          <a:xfrm>
            <a:off x="9098280" y="1775460"/>
            <a:ext cx="3098584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2E67C335-1C00-FD9E-CA03-7EE176B07F0B}"/>
              </a:ext>
            </a:extLst>
          </p:cNvPr>
          <p:cNvSpPr/>
          <p:nvPr/>
        </p:nvSpPr>
        <p:spPr>
          <a:xfrm>
            <a:off x="9144000" y="1857756"/>
            <a:ext cx="3015613" cy="1353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Status + response saved in complaint_status.txt</a:t>
            </a:r>
            <a:endParaRPr lang="en-US" sz="16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825A5E82-B4BC-F290-3C94-A6C2928C141E}"/>
              </a:ext>
            </a:extLst>
          </p:cNvPr>
          <p:cNvSpPr/>
          <p:nvPr/>
        </p:nvSpPr>
        <p:spPr>
          <a:xfrm>
            <a:off x="411480" y="4018787"/>
            <a:ext cx="12161520" cy="548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review and mark publication logic</a:t>
            </a:r>
            <a:endParaRPr lang="en-US" sz="27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D38827C8-AFC1-0313-6598-14EEEF5F75F8}"/>
              </a:ext>
            </a:extLst>
          </p:cNvPr>
          <p:cNvSpPr/>
          <p:nvPr/>
        </p:nvSpPr>
        <p:spPr>
          <a:xfrm>
            <a:off x="1783080" y="5326380"/>
            <a:ext cx="3705346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26FBD4E8-37EE-DB33-DF06-5207D3692DC0}"/>
              </a:ext>
            </a:extLst>
          </p:cNvPr>
          <p:cNvSpPr/>
          <p:nvPr/>
        </p:nvSpPr>
        <p:spPr>
          <a:xfrm>
            <a:off x="4434840" y="5326380"/>
            <a:ext cx="3705346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7BA7A423-03D0-E259-C83D-8FF20B962F90}"/>
              </a:ext>
            </a:extLst>
          </p:cNvPr>
          <p:cNvSpPr/>
          <p:nvPr/>
        </p:nvSpPr>
        <p:spPr>
          <a:xfrm>
            <a:off x="7086600" y="5326380"/>
            <a:ext cx="379151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6618693C-0A77-A49A-1D8C-3AD857AE73DB}"/>
              </a:ext>
            </a:extLst>
          </p:cNvPr>
          <p:cNvSpPr/>
          <p:nvPr/>
        </p:nvSpPr>
        <p:spPr>
          <a:xfrm>
            <a:off x="640080" y="4777739"/>
            <a:ext cx="2154272" cy="16894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63E66170-4AE3-BCBA-18A5-D52D2AF84796}"/>
              </a:ext>
            </a:extLst>
          </p:cNvPr>
          <p:cNvSpPr/>
          <p:nvPr/>
        </p:nvSpPr>
        <p:spPr>
          <a:xfrm>
            <a:off x="685800" y="4860036"/>
            <a:ext cx="1981930" cy="1520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Student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submission</a:t>
            </a:r>
            <a:endParaRPr lang="en-US" sz="160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14B42E65-C8FC-688E-E481-4DDD2BDE5410}"/>
              </a:ext>
            </a:extLst>
          </p:cNvPr>
          <p:cNvSpPr/>
          <p:nvPr/>
        </p:nvSpPr>
        <p:spPr>
          <a:xfrm>
            <a:off x="3749040" y="4777739"/>
            <a:ext cx="1292562" cy="168944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80FE5D4-B348-067D-A4F9-85D2F0C4416E}"/>
              </a:ext>
            </a:extLst>
          </p:cNvPr>
          <p:cNvSpPr/>
          <p:nvPr/>
        </p:nvSpPr>
        <p:spPr>
          <a:xfrm>
            <a:off x="3794760" y="4860036"/>
            <a:ext cx="1120221" cy="1520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View 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submissions</a:t>
            </a:r>
            <a:endParaRPr lang="en-US" sz="1600" dirty="0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24050867-B8B9-5CAC-CB44-693C8CE38A5D}"/>
              </a:ext>
            </a:extLst>
          </p:cNvPr>
          <p:cNvSpPr/>
          <p:nvPr/>
        </p:nvSpPr>
        <p:spPr>
          <a:xfrm>
            <a:off x="6400800" y="4777739"/>
            <a:ext cx="1292562" cy="168944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F399673B-F500-C295-7734-A51E3CA41D41}"/>
              </a:ext>
            </a:extLst>
          </p:cNvPr>
          <p:cNvSpPr/>
          <p:nvPr/>
        </p:nvSpPr>
        <p:spPr>
          <a:xfrm>
            <a:off x="6446520" y="4860036"/>
            <a:ext cx="1120221" cy="1520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Select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row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publish</a:t>
            </a:r>
            <a:endParaRPr lang="en-US" sz="16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D9FC3E70-1B31-6603-B409-16CE7A0970A6}"/>
              </a:ext>
            </a:extLst>
          </p:cNvPr>
          <p:cNvSpPr/>
          <p:nvPr/>
        </p:nvSpPr>
        <p:spPr>
          <a:xfrm>
            <a:off x="9098280" y="4594860"/>
            <a:ext cx="3169920" cy="187232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E61D49B8-4381-D165-6A20-26E5399ED0B2}"/>
              </a:ext>
            </a:extLst>
          </p:cNvPr>
          <p:cNvSpPr/>
          <p:nvPr/>
        </p:nvSpPr>
        <p:spPr>
          <a:xfrm>
            <a:off x="9208770" y="4457700"/>
            <a:ext cx="2988094" cy="208365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Write final mark into exams.txt and mark Published = Yes</a:t>
            </a:r>
            <a:endParaRPr lang="en-US" sz="16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E579912C-042E-CC9B-443D-69937570389C}"/>
              </a:ext>
            </a:extLst>
          </p:cNvPr>
          <p:cNvSpPr/>
          <p:nvPr/>
        </p:nvSpPr>
        <p:spPr>
          <a:xfrm>
            <a:off x="411480" y="7200900"/>
            <a:ext cx="11785384" cy="395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Attendance management: from staff entry to student view</a:t>
            </a:r>
            <a:endParaRPr lang="en-US" sz="2700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2F26F33A-92FC-81DC-1AC5-1D4DD1F6C425}"/>
              </a:ext>
            </a:extLst>
          </p:cNvPr>
          <p:cNvSpPr/>
          <p:nvPr/>
        </p:nvSpPr>
        <p:spPr>
          <a:xfrm>
            <a:off x="2011680" y="8737092"/>
            <a:ext cx="3519508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00EB90A0-FADC-F3FF-4585-81C57ACB4A3D}"/>
              </a:ext>
            </a:extLst>
          </p:cNvPr>
          <p:cNvSpPr/>
          <p:nvPr/>
        </p:nvSpPr>
        <p:spPr>
          <a:xfrm>
            <a:off x="4754880" y="8737092"/>
            <a:ext cx="3433666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6AFDF84E-FD04-8034-78D8-528CE7C2B537}"/>
              </a:ext>
            </a:extLst>
          </p:cNvPr>
          <p:cNvSpPr/>
          <p:nvPr/>
        </p:nvSpPr>
        <p:spPr>
          <a:xfrm>
            <a:off x="7452360" y="8737092"/>
            <a:ext cx="3433666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BB7412A6-835C-DF67-B816-128400A8CC15}"/>
              </a:ext>
            </a:extLst>
          </p:cNvPr>
          <p:cNvSpPr/>
          <p:nvPr/>
        </p:nvSpPr>
        <p:spPr>
          <a:xfrm>
            <a:off x="640080" y="8188451"/>
            <a:ext cx="2575250" cy="128473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13B00E76-06A4-4F57-B82D-2B5C2E085939}"/>
              </a:ext>
            </a:extLst>
          </p:cNvPr>
          <p:cNvSpPr/>
          <p:nvPr/>
        </p:nvSpPr>
        <p:spPr>
          <a:xfrm>
            <a:off x="685800" y="8270747"/>
            <a:ext cx="2403567" cy="115625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Staff enters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roll + subject</a:t>
            </a:r>
            <a:endParaRPr lang="en-US" sz="1600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CC408A46-AEB8-DB56-57D3-786AE1D7A215}"/>
              </a:ext>
            </a:extLst>
          </p:cNvPr>
          <p:cNvSpPr/>
          <p:nvPr/>
        </p:nvSpPr>
        <p:spPr>
          <a:xfrm>
            <a:off x="3886200" y="8188451"/>
            <a:ext cx="1630991" cy="128473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E337BD52-F066-C3E0-3823-C26B75534A06}"/>
              </a:ext>
            </a:extLst>
          </p:cNvPr>
          <p:cNvSpPr/>
          <p:nvPr/>
        </p:nvSpPr>
        <p:spPr>
          <a:xfrm>
            <a:off x="3931920" y="8270747"/>
            <a:ext cx="1459308" cy="115625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Add date,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period, total,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present</a:t>
            </a:r>
            <a:endParaRPr lang="en-US" sz="1600" dirty="0"/>
          </a:p>
        </p:txBody>
      </p:sp>
      <p:sp>
        <p:nvSpPr>
          <p:cNvPr id="42" name="Shape 12">
            <a:extLst>
              <a:ext uri="{FF2B5EF4-FFF2-40B4-BE49-F238E27FC236}">
                <a16:creationId xmlns:a16="http://schemas.microsoft.com/office/drawing/2014/main" id="{75AD90FC-ECC9-1105-8FAB-C188771AD15C}"/>
              </a:ext>
            </a:extLst>
          </p:cNvPr>
          <p:cNvSpPr/>
          <p:nvPr/>
        </p:nvSpPr>
        <p:spPr>
          <a:xfrm>
            <a:off x="6583680" y="8188451"/>
            <a:ext cx="1630991" cy="1284733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58AB6456-B4EA-0A5A-656C-758FC22DF76C}"/>
              </a:ext>
            </a:extLst>
          </p:cNvPr>
          <p:cNvSpPr/>
          <p:nvPr/>
        </p:nvSpPr>
        <p:spPr>
          <a:xfrm>
            <a:off x="6629400" y="8270747"/>
            <a:ext cx="1459308" cy="115625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Save 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attendance.txt</a:t>
            </a:r>
            <a:endParaRPr lang="en-US" sz="1600" dirty="0"/>
          </a:p>
        </p:txBody>
      </p:sp>
      <p:sp>
        <p:nvSpPr>
          <p:cNvPr id="44" name="Shape 14">
            <a:extLst>
              <a:ext uri="{FF2B5EF4-FFF2-40B4-BE49-F238E27FC236}">
                <a16:creationId xmlns:a16="http://schemas.microsoft.com/office/drawing/2014/main" id="{0A1CC11C-9AB7-0147-3F95-C253C0174B4F}"/>
              </a:ext>
            </a:extLst>
          </p:cNvPr>
          <p:cNvSpPr/>
          <p:nvPr/>
        </p:nvSpPr>
        <p:spPr>
          <a:xfrm>
            <a:off x="9241038" y="7992387"/>
            <a:ext cx="3027162" cy="1584505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A0F488DC-9B76-AE10-465A-9822A7D1BD47}"/>
              </a:ext>
            </a:extLst>
          </p:cNvPr>
          <p:cNvSpPr/>
          <p:nvPr/>
        </p:nvSpPr>
        <p:spPr>
          <a:xfrm>
            <a:off x="9326880" y="8087868"/>
            <a:ext cx="2869984" cy="1584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Student dashboard reads by roll and computes percentage</a:t>
            </a:r>
            <a:endParaRPr lang="en-US" sz="160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90862408-2F0A-7F35-1827-A8BF68154AEB}"/>
              </a:ext>
            </a:extLst>
          </p:cNvPr>
          <p:cNvSpPr/>
          <p:nvPr/>
        </p:nvSpPr>
        <p:spPr>
          <a:xfrm>
            <a:off x="12954000" y="723900"/>
            <a:ext cx="516636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MCQ exam workflow overview</a:t>
            </a:r>
            <a:endParaRPr lang="en-US" sz="2700" dirty="0"/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9E181280-88EB-55F3-D1AF-A81DF8F19CF9}"/>
              </a:ext>
            </a:extLst>
          </p:cNvPr>
          <p:cNvSpPr/>
          <p:nvPr/>
        </p:nvSpPr>
        <p:spPr>
          <a:xfrm>
            <a:off x="14020800" y="1638299"/>
            <a:ext cx="2286000" cy="166420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4A8D3BEA-749B-C0BC-8D3A-078B327BDA3E}"/>
              </a:ext>
            </a:extLst>
          </p:cNvPr>
          <p:cNvSpPr/>
          <p:nvPr/>
        </p:nvSpPr>
        <p:spPr>
          <a:xfrm>
            <a:off x="14095730" y="1740407"/>
            <a:ext cx="2095500" cy="149778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Staff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creates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paper</a:t>
            </a:r>
            <a:endParaRPr lang="en-US" sz="1600" dirty="0"/>
          </a:p>
        </p:txBody>
      </p:sp>
      <p:sp>
        <p:nvSpPr>
          <p:cNvPr id="49" name="Shape 11">
            <a:extLst>
              <a:ext uri="{FF2B5EF4-FFF2-40B4-BE49-F238E27FC236}">
                <a16:creationId xmlns:a16="http://schemas.microsoft.com/office/drawing/2014/main" id="{07149F07-5016-E123-7AFE-C30E38B3DDF3}"/>
              </a:ext>
            </a:extLst>
          </p:cNvPr>
          <p:cNvSpPr/>
          <p:nvPr/>
        </p:nvSpPr>
        <p:spPr>
          <a:xfrm>
            <a:off x="14082145" y="4076700"/>
            <a:ext cx="2166182" cy="1466427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21D72ED5-6D7F-84E3-470E-799CE7FBA765}"/>
              </a:ext>
            </a:extLst>
          </p:cNvPr>
          <p:cNvSpPr/>
          <p:nvPr/>
        </p:nvSpPr>
        <p:spPr>
          <a:xfrm>
            <a:off x="14127865" y="4158997"/>
            <a:ext cx="1877358" cy="1319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Paper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saved</a:t>
            </a:r>
            <a:endParaRPr lang="en-US" sz="1600" dirty="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20458E26-1571-3284-9189-3747EEC0A057}"/>
              </a:ext>
            </a:extLst>
          </p:cNvPr>
          <p:cNvSpPr/>
          <p:nvPr/>
        </p:nvSpPr>
        <p:spPr>
          <a:xfrm>
            <a:off x="14020800" y="6405031"/>
            <a:ext cx="2347686" cy="1466427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A9BC8AB0-BB4A-C6F7-8B2B-0C6162C52B79}"/>
              </a:ext>
            </a:extLst>
          </p:cNvPr>
          <p:cNvSpPr/>
          <p:nvPr/>
        </p:nvSpPr>
        <p:spPr>
          <a:xfrm>
            <a:off x="14137005" y="6591300"/>
            <a:ext cx="2054225" cy="13197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Student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opens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111827"/>
                </a:solidFill>
              </a:rPr>
              <a:t>Exam &amp; Student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111827"/>
                </a:solidFill>
              </a:rPr>
              <a:t>submits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4C81B329-9173-AD5B-8B96-7460C21CD42C}"/>
              </a:ext>
            </a:extLst>
          </p:cNvPr>
          <p:cNvSpPr/>
          <p:nvPr/>
        </p:nvSpPr>
        <p:spPr>
          <a:xfrm>
            <a:off x="14018154" y="8556443"/>
            <a:ext cx="2347686" cy="1466427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A0988EC2-503B-6016-5F68-AFBA55E5873D}"/>
              </a:ext>
            </a:extLst>
          </p:cNvPr>
          <p:cNvSpPr/>
          <p:nvPr/>
        </p:nvSpPr>
        <p:spPr>
          <a:xfrm>
            <a:off x="14095729" y="8645658"/>
            <a:ext cx="2167095" cy="135644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Staff publishes marks</a:t>
            </a:r>
            <a:endParaRPr lang="en-US" sz="16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A2FEAAF-7E3B-86E6-93EE-4CFB8F37B8D7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>
            <a:off x="15163800" y="3302500"/>
            <a:ext cx="1436" cy="774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036C3E-6867-04B6-C90F-FBC006135FF8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15163800" y="5543127"/>
            <a:ext cx="1436" cy="861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494743B-5055-FED9-F878-F6332AA24FDF}"/>
              </a:ext>
            </a:extLst>
          </p:cNvPr>
          <p:cNvCxnSpPr>
            <a:cxnSpLocks/>
          </p:cNvCxnSpPr>
          <p:nvPr/>
        </p:nvCxnSpPr>
        <p:spPr>
          <a:xfrm>
            <a:off x="15135921" y="7911084"/>
            <a:ext cx="0" cy="645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823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0">
            <a:extLst>
              <a:ext uri="{FF2B5EF4-FFF2-40B4-BE49-F238E27FC236}">
                <a16:creationId xmlns:a16="http://schemas.microsoft.com/office/drawing/2014/main" id="{9F5D5B92-EDE3-6F70-51EA-7EC59020A6C8}"/>
              </a:ext>
            </a:extLst>
          </p:cNvPr>
          <p:cNvSpPr/>
          <p:nvPr/>
        </p:nvSpPr>
        <p:spPr>
          <a:xfrm>
            <a:off x="304800" y="495300"/>
            <a:ext cx="5715000" cy="4343400"/>
          </a:xfrm>
          <a:prstGeom prst="roundRect">
            <a:avLst>
              <a:gd name="adj" fmla="val 170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21">
            <a:extLst>
              <a:ext uri="{FF2B5EF4-FFF2-40B4-BE49-F238E27FC236}">
                <a16:creationId xmlns:a16="http://schemas.microsoft.com/office/drawing/2014/main" id="{81FCABFA-AD9A-B064-140E-19C60F33F7F7}"/>
              </a:ext>
            </a:extLst>
          </p:cNvPr>
          <p:cNvSpPr/>
          <p:nvPr/>
        </p:nvSpPr>
        <p:spPr>
          <a:xfrm>
            <a:off x="509129" y="1015730"/>
            <a:ext cx="5129671" cy="317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2E8F0"/>
                </a:solidFill>
              </a:rPr>
              <a:t>Admin dashboard pseudo code</a:t>
            </a:r>
            <a:endParaRPr lang="en-US" sz="2100" dirty="0"/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C7F55346-F860-8FA4-C740-F6E9635514E4}"/>
              </a:ext>
            </a:extLst>
          </p:cNvPr>
          <p:cNvSpPr/>
          <p:nvPr/>
        </p:nvSpPr>
        <p:spPr>
          <a:xfrm>
            <a:off x="549204" y="1638300"/>
            <a:ext cx="5089596" cy="306648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admin login succeeds: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 AdministrativeDashboardPage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choose module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 save / search / delete / update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show pop-up feedback</a:t>
            </a:r>
            <a:endParaRPr lang="en-US" sz="1900" dirty="0"/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1A62DFDA-50DD-E316-17EB-A479C22A1012}"/>
              </a:ext>
            </a:extLst>
          </p:cNvPr>
          <p:cNvSpPr/>
          <p:nvPr/>
        </p:nvSpPr>
        <p:spPr>
          <a:xfrm>
            <a:off x="304800" y="5448301"/>
            <a:ext cx="5715000" cy="4343399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3" name="Text 18">
            <a:extLst>
              <a:ext uri="{FF2B5EF4-FFF2-40B4-BE49-F238E27FC236}">
                <a16:creationId xmlns:a16="http://schemas.microsoft.com/office/drawing/2014/main" id="{8544EBFD-8A11-9FE3-C87A-C800A2759801}"/>
              </a:ext>
            </a:extLst>
          </p:cNvPr>
          <p:cNvSpPr/>
          <p:nvPr/>
        </p:nvSpPr>
        <p:spPr>
          <a:xfrm>
            <a:off x="447039" y="5632287"/>
            <a:ext cx="5359400" cy="429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2E8F0"/>
                </a:solidFill>
              </a:rPr>
              <a:t>Payment Status logic</a:t>
            </a:r>
            <a:endParaRPr lang="en-US" sz="2100" dirty="0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24F7988D-5304-19DC-6F75-035E10A35049}"/>
              </a:ext>
            </a:extLst>
          </p:cNvPr>
          <p:cNvSpPr/>
          <p:nvPr/>
        </p:nvSpPr>
        <p:spPr>
          <a:xfrm>
            <a:off x="467359" y="6350231"/>
            <a:ext cx="5308600" cy="3822469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= totalFees - paidAmount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paidAmount &lt;= 0: status = "Pending"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balance == 0: status = "Completed"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status = "Partial"</a:t>
            </a:r>
            <a:endParaRPr lang="en-US" sz="20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55CD51EF-702E-C4E8-A52C-2D470C4212E7}"/>
              </a:ext>
            </a:extLst>
          </p:cNvPr>
          <p:cNvSpPr/>
          <p:nvPr/>
        </p:nvSpPr>
        <p:spPr>
          <a:xfrm>
            <a:off x="7315200" y="434340"/>
            <a:ext cx="10287000" cy="9357360"/>
          </a:xfrm>
          <a:prstGeom prst="roundRect">
            <a:avLst>
              <a:gd name="adj" fmla="val 81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60445DD-B7DB-F4A9-D2EC-A3CC2DCC8FB6}"/>
              </a:ext>
            </a:extLst>
          </p:cNvPr>
          <p:cNvSpPr/>
          <p:nvPr/>
        </p:nvSpPr>
        <p:spPr>
          <a:xfrm>
            <a:off x="7443216" y="1181100"/>
            <a:ext cx="6425184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registration </a:t>
            </a:r>
            <a:r>
              <a:rPr lang="en-US" sz="2200" b="1" dirty="0">
                <a:solidFill>
                  <a:schemeClr val="bg1"/>
                </a:solidFill>
              </a:rPr>
              <a:t>Pseudo code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BF10CC6-0A06-6F1A-5B7E-7C8267F6E1BC}"/>
              </a:ext>
            </a:extLst>
          </p:cNvPr>
          <p:cNvSpPr/>
          <p:nvPr/>
        </p:nvSpPr>
        <p:spPr>
          <a:xfrm>
            <a:off x="7461504" y="3467100"/>
            <a:ext cx="7702296" cy="40965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personal details + contact details + academic details + course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fees = courseFeeMap[course]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= generateRoll(course, year, sequence)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normalize(studentName)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defaultPassword or generated token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 block to students.txt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/ Roll / Course / Contacts / Fees / Username / Password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popup("Student data saved successfully")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4134830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7">
            <a:extLst>
              <a:ext uri="{FF2B5EF4-FFF2-40B4-BE49-F238E27FC236}">
                <a16:creationId xmlns:a16="http://schemas.microsoft.com/office/drawing/2014/main" id="{75D7B84E-366D-9096-579D-C0AF84B9D621}"/>
              </a:ext>
            </a:extLst>
          </p:cNvPr>
          <p:cNvSpPr/>
          <p:nvPr/>
        </p:nvSpPr>
        <p:spPr>
          <a:xfrm>
            <a:off x="457200" y="419100"/>
            <a:ext cx="6096000" cy="4343400"/>
          </a:xfrm>
          <a:prstGeom prst="roundRect">
            <a:avLst>
              <a:gd name="adj" fmla="val 181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C9317C21-1151-0390-B910-489FDFBDD210}"/>
              </a:ext>
            </a:extLst>
          </p:cNvPr>
          <p:cNvSpPr/>
          <p:nvPr/>
        </p:nvSpPr>
        <p:spPr>
          <a:xfrm>
            <a:off x="685800" y="723900"/>
            <a:ext cx="5752562" cy="359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2E8F0"/>
                </a:solidFill>
              </a:rPr>
              <a:t> Student Pseudo code</a:t>
            </a:r>
            <a:endParaRPr lang="en-US" sz="1900" dirty="0"/>
          </a:p>
        </p:txBody>
      </p:sp>
      <p:sp>
        <p:nvSpPr>
          <p:cNvPr id="14" name="Text 21">
            <a:extLst>
              <a:ext uri="{FF2B5EF4-FFF2-40B4-BE49-F238E27FC236}">
                <a16:creationId xmlns:a16="http://schemas.microsoft.com/office/drawing/2014/main" id="{7F15EE10-4960-D088-16F9-05F05546BCE7}"/>
              </a:ext>
            </a:extLst>
          </p:cNvPr>
          <p:cNvSpPr/>
          <p:nvPr/>
        </p:nvSpPr>
        <p:spPr>
          <a:xfrm>
            <a:off x="704088" y="961644"/>
            <a:ext cx="5315712" cy="3648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student block in students.txt: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 Name, Roll, Username, Password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username == inputUser and password == inputPass: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open StudentDashboard(name, roll)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stop</a:t>
            </a:r>
            <a:endParaRPr lang="en-US" sz="1900" dirty="0"/>
          </a:p>
        </p:txBody>
      </p:sp>
      <p:sp>
        <p:nvSpPr>
          <p:cNvPr id="15" name="Shape 19">
            <a:extLst>
              <a:ext uri="{FF2B5EF4-FFF2-40B4-BE49-F238E27FC236}">
                <a16:creationId xmlns:a16="http://schemas.microsoft.com/office/drawing/2014/main" id="{376B54C7-A334-D965-5C15-03EC164BA3BF}"/>
              </a:ext>
            </a:extLst>
          </p:cNvPr>
          <p:cNvSpPr/>
          <p:nvPr/>
        </p:nvSpPr>
        <p:spPr>
          <a:xfrm>
            <a:off x="457200" y="5372100"/>
            <a:ext cx="6096000" cy="4495800"/>
          </a:xfrm>
          <a:prstGeom prst="roundRect">
            <a:avLst>
              <a:gd name="adj" fmla="val 148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3A02F084-A435-B5C9-34BB-E29DFA69D6D7}"/>
              </a:ext>
            </a:extLst>
          </p:cNvPr>
          <p:cNvSpPr/>
          <p:nvPr/>
        </p:nvSpPr>
        <p:spPr>
          <a:xfrm>
            <a:off x="585216" y="5676900"/>
            <a:ext cx="5669280" cy="333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2E8F0"/>
                </a:solidFill>
              </a:rPr>
              <a:t>Attendance formula</a:t>
            </a:r>
            <a:endParaRPr lang="en-US" sz="21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82D57133-CEDA-0280-0D3F-D73F559A7898}"/>
              </a:ext>
            </a:extLst>
          </p:cNvPr>
          <p:cNvSpPr/>
          <p:nvPr/>
        </p:nvSpPr>
        <p:spPr>
          <a:xfrm>
            <a:off x="603504" y="5995247"/>
            <a:ext cx="5608320" cy="379645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percentage = (present * 100.0) / total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as subject,total,present,date,period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view filters only matching roll</a:t>
            </a:r>
            <a:endParaRPr lang="en-US" sz="20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B2613451-C24B-ED35-C779-F1EB4DA2C47E}"/>
              </a:ext>
            </a:extLst>
          </p:cNvPr>
          <p:cNvSpPr/>
          <p:nvPr/>
        </p:nvSpPr>
        <p:spPr>
          <a:xfrm>
            <a:off x="7696200" y="419100"/>
            <a:ext cx="9448800" cy="9448800"/>
          </a:xfrm>
          <a:prstGeom prst="roundRect">
            <a:avLst>
              <a:gd name="adj" fmla="val 8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80FF972B-5B60-8739-E8E3-24FFDAEE88F5}"/>
              </a:ext>
            </a:extLst>
          </p:cNvPr>
          <p:cNvSpPr/>
          <p:nvPr/>
        </p:nvSpPr>
        <p:spPr>
          <a:xfrm>
            <a:off x="7837473" y="1362394"/>
            <a:ext cx="8935079" cy="381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 creates MCQ question papers</a:t>
            </a:r>
            <a:r>
              <a:rPr lang="en-US" sz="2500" dirty="0">
                <a:solidFill>
                  <a:schemeClr val="bg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  </a:t>
            </a:r>
            <a:r>
              <a:rPr lang="en-US" sz="2500" b="1" dirty="0">
                <a:solidFill>
                  <a:schemeClr val="bg1"/>
                </a:solidFill>
              </a:rPr>
              <a:t>Pseudo code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23B0413A-5CD8-2540-C5C9-9B3896697B04}"/>
              </a:ext>
            </a:extLst>
          </p:cNvPr>
          <p:cNvSpPr/>
          <p:nvPr/>
        </p:nvSpPr>
        <p:spPr>
          <a:xfrm>
            <a:off x="7857655" y="806935"/>
            <a:ext cx="8861690" cy="86470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subject + exam title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for any number of questions: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 question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 option A / B / C / D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enter correct answer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 ADD QUESTION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FINISH PAPER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END_EXAM marker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23093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83D0E07-5029-25CD-A29C-A8A52B7CF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"/>
            <a:ext cx="182880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80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626" y="-13777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23288" y="5085795"/>
            <a:ext cx="4241423" cy="145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1"/>
              </a:lnSpc>
            </a:pPr>
            <a:r>
              <a:rPr lang="en-US" sz="10785">
                <a:solidFill>
                  <a:srgbClr val="1F1A19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YOU.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08429" y="2775054"/>
            <a:ext cx="11271141" cy="2230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6"/>
              </a:lnSpc>
            </a:pPr>
            <a:r>
              <a:rPr lang="en-US" sz="16476" b="1">
                <a:solidFill>
                  <a:srgbClr val="1F1A19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THANK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604012" y="9169362"/>
            <a:ext cx="1079975" cy="64341"/>
            <a:chOff x="0" y="0"/>
            <a:chExt cx="284438" cy="1694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4438" cy="16946"/>
            </a:xfrm>
            <a:custGeom>
              <a:avLst/>
              <a:gdLst/>
              <a:ahLst/>
              <a:cxnLst/>
              <a:rect l="l" t="t" r="r" b="b"/>
              <a:pathLst>
                <a:path w="284438" h="16946">
                  <a:moveTo>
                    <a:pt x="0" y="0"/>
                  </a:moveTo>
                  <a:lnTo>
                    <a:pt x="284438" y="0"/>
                  </a:lnTo>
                  <a:lnTo>
                    <a:pt x="284438" y="16946"/>
                  </a:lnTo>
                  <a:lnTo>
                    <a:pt x="0" y="16946"/>
                  </a:lnTo>
                  <a:close/>
                </a:path>
              </a:pathLst>
            </a:custGeom>
            <a:solidFill>
              <a:srgbClr val="43434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84438" cy="645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1070</Words>
  <Application>Microsoft Office PowerPoint</Application>
  <PresentationFormat>Custom</PresentationFormat>
  <Paragraphs>179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 Display</vt:lpstr>
      <vt:lpstr>Arial</vt:lpstr>
      <vt:lpstr>Courier New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and White Clean Minimalist Pitch Deck Presentation</dc:title>
  <dc:creator>Praneeth Kottamasu</dc:creator>
  <cp:lastModifiedBy>Praneeth Kottamasu</cp:lastModifiedBy>
  <cp:revision>49</cp:revision>
  <dcterms:created xsi:type="dcterms:W3CDTF">2006-08-16T00:00:00Z</dcterms:created>
  <dcterms:modified xsi:type="dcterms:W3CDTF">2026-04-23T14:01:55Z</dcterms:modified>
  <dc:identifier>DAHDE-9uXTk</dc:identifier>
</cp:coreProperties>
</file>